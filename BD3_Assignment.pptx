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68372-6466-F540-AEFE-A2CBC811642E}" v="22" dt="2026-04-02T13:11:18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14"/>
    <p:restoredTop sz="94595"/>
  </p:normalViewPr>
  <p:slideViewPr>
    <p:cSldViewPr snapToGrid="0">
      <p:cViewPr>
        <p:scale>
          <a:sx n="122" d="100"/>
          <a:sy n="122" d="100"/>
        </p:scale>
        <p:origin x="8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4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1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8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7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6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9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5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3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2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3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ED833-3131-5049-A74D-96FF047F734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77B0C-8B55-DB4A-A2F9-9D44FCAD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2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92DA13E-14B8-C5A4-42DA-A11F0627CDD1}"/>
              </a:ext>
            </a:extLst>
          </p:cNvPr>
          <p:cNvSpPr txBox="1"/>
          <p:nvPr/>
        </p:nvSpPr>
        <p:spPr>
          <a:xfrm>
            <a:off x="2522553" y="2635856"/>
            <a:ext cx="1717137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Database Schema</a:t>
            </a:r>
            <a:endParaRPr lang="ru-RU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C4AE84-3590-7FD5-06B4-ED70243347DC}"/>
              </a:ext>
            </a:extLst>
          </p:cNvPr>
          <p:cNvSpPr txBox="1"/>
          <p:nvPr/>
        </p:nvSpPr>
        <p:spPr>
          <a:xfrm>
            <a:off x="2690868" y="402171"/>
            <a:ext cx="1380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ER – diagram</a:t>
            </a:r>
            <a:endParaRPr lang="en-US" sz="14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834E8E9-9BAD-3CCA-CC96-7F2D65C35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819200"/>
              </p:ext>
            </p:extLst>
          </p:nvPr>
        </p:nvGraphicFramePr>
        <p:xfrm>
          <a:off x="340358" y="879628"/>
          <a:ext cx="1260000" cy="36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10004694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Customers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6567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307605F-F8B7-1482-C520-4616DEF91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285040"/>
              </p:ext>
            </p:extLst>
          </p:nvPr>
        </p:nvGraphicFramePr>
        <p:xfrm>
          <a:off x="2772379" y="871713"/>
          <a:ext cx="1260000" cy="36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10004694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Orders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6567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D5D4A1E-A870-220F-9678-6EF848D5C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57317"/>
              </p:ext>
            </p:extLst>
          </p:nvPr>
        </p:nvGraphicFramePr>
        <p:xfrm>
          <a:off x="5257642" y="879628"/>
          <a:ext cx="1260000" cy="36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110004694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Products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65673"/>
                  </a:ext>
                </a:extLst>
              </a:tr>
            </a:tbl>
          </a:graphicData>
        </a:graphic>
      </p:graphicFrame>
      <p:sp>
        <p:nvSpPr>
          <p:cNvPr id="26" name="Triangle 25">
            <a:extLst>
              <a:ext uri="{FF2B5EF4-FFF2-40B4-BE49-F238E27FC236}">
                <a16:creationId xmlns:a16="http://schemas.microsoft.com/office/drawing/2014/main" id="{A3CAB749-A229-8533-4ED3-CBAD8010CC58}"/>
              </a:ext>
            </a:extLst>
          </p:cNvPr>
          <p:cNvSpPr/>
          <p:nvPr/>
        </p:nvSpPr>
        <p:spPr>
          <a:xfrm rot="16200000">
            <a:off x="2538143" y="951185"/>
            <a:ext cx="251587" cy="21688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1E81BA2F-4578-7AD3-85F1-F75D1AB768E3}"/>
              </a:ext>
            </a:extLst>
          </p:cNvPr>
          <p:cNvSpPr/>
          <p:nvPr/>
        </p:nvSpPr>
        <p:spPr>
          <a:xfrm rot="16200000">
            <a:off x="5023406" y="953430"/>
            <a:ext cx="251587" cy="21688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FCD07A9D-86ED-AF07-E712-2B4CE2D39101}"/>
              </a:ext>
            </a:extLst>
          </p:cNvPr>
          <p:cNvSpPr/>
          <p:nvPr/>
        </p:nvSpPr>
        <p:spPr>
          <a:xfrm rot="5400000">
            <a:off x="4015028" y="939971"/>
            <a:ext cx="251587" cy="216885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96D563A-6B1D-4864-64F8-0BB9809757F5}"/>
              </a:ext>
            </a:extLst>
          </p:cNvPr>
          <p:cNvCxnSpPr>
            <a:cxnSpLocks/>
          </p:cNvCxnSpPr>
          <p:nvPr/>
        </p:nvCxnSpPr>
        <p:spPr>
          <a:xfrm>
            <a:off x="1590198" y="1036320"/>
            <a:ext cx="1172021" cy="233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DA84D2-D3F5-D67C-AE04-EFCA55E3663D}"/>
              </a:ext>
            </a:extLst>
          </p:cNvPr>
          <p:cNvCxnSpPr>
            <a:stCxn id="28" idx="3"/>
            <a:endCxn id="25" idx="1"/>
          </p:cNvCxnSpPr>
          <p:nvPr/>
        </p:nvCxnSpPr>
        <p:spPr>
          <a:xfrm>
            <a:off x="4032379" y="1048414"/>
            <a:ext cx="1225263" cy="112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5559DFB-20AA-1EB7-8356-2A168886D554}"/>
              </a:ext>
            </a:extLst>
          </p:cNvPr>
          <p:cNvSpPr txBox="1"/>
          <p:nvPr/>
        </p:nvSpPr>
        <p:spPr>
          <a:xfrm>
            <a:off x="1591665" y="791294"/>
            <a:ext cx="26962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200" b="1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7A66E1-6113-B249-46B3-3EC48EA8E4A9}"/>
              </a:ext>
            </a:extLst>
          </p:cNvPr>
          <p:cNvSpPr txBox="1"/>
          <p:nvPr/>
        </p:nvSpPr>
        <p:spPr>
          <a:xfrm>
            <a:off x="2353659" y="802948"/>
            <a:ext cx="49653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b="1" dirty="0"/>
              <a:t>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9FA43C-C460-5633-7E93-59E1D097346E}"/>
              </a:ext>
            </a:extLst>
          </p:cNvPr>
          <p:cNvSpPr txBox="1"/>
          <p:nvPr/>
        </p:nvSpPr>
        <p:spPr>
          <a:xfrm>
            <a:off x="4133819" y="801454"/>
            <a:ext cx="31290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200" b="1" dirty="0"/>
              <a:t>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9EE2BD-761E-A14F-7415-903E844E6398}"/>
              </a:ext>
            </a:extLst>
          </p:cNvPr>
          <p:cNvSpPr txBox="1"/>
          <p:nvPr/>
        </p:nvSpPr>
        <p:spPr>
          <a:xfrm>
            <a:off x="4855173" y="813108"/>
            <a:ext cx="49653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b="1" dirty="0"/>
              <a:t>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C1A4B8-52BA-6592-8417-517C285C6F1C}"/>
              </a:ext>
            </a:extLst>
          </p:cNvPr>
          <p:cNvSpPr txBox="1"/>
          <p:nvPr/>
        </p:nvSpPr>
        <p:spPr>
          <a:xfrm>
            <a:off x="254493" y="1296427"/>
            <a:ext cx="5057795" cy="1166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One Customer can have many Orders (1 </a:t>
            </a:r>
            <a:r>
              <a:rPr lang="ru-RU" sz="1200" dirty="0"/>
              <a:t>– </a:t>
            </a:r>
            <a:r>
              <a:rPr lang="en-US" sz="1200" dirty="0"/>
              <a:t>to </a:t>
            </a:r>
            <a:r>
              <a:rPr lang="ru-RU" sz="1200" dirty="0"/>
              <a:t>– </a:t>
            </a:r>
            <a:r>
              <a:rPr lang="en-US" sz="1200" dirty="0"/>
              <a:t>Many Relationship</a:t>
            </a:r>
            <a:r>
              <a:rPr lang="ru-RU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One </a:t>
            </a:r>
            <a:r>
              <a:rPr lang="en-GB" sz="1200" dirty="0"/>
              <a:t>Order</a:t>
            </a:r>
            <a:r>
              <a:rPr lang="en-US" sz="1200" dirty="0"/>
              <a:t> belongs to one Customer (Many </a:t>
            </a:r>
            <a:r>
              <a:rPr lang="ru-RU" sz="1200" dirty="0"/>
              <a:t>– </a:t>
            </a:r>
            <a:r>
              <a:rPr lang="en-US" sz="1200" dirty="0"/>
              <a:t>to </a:t>
            </a:r>
            <a:r>
              <a:rPr lang="ru-RU" sz="1200" dirty="0"/>
              <a:t>– </a:t>
            </a:r>
            <a:r>
              <a:rPr lang="en-US" sz="1200" dirty="0"/>
              <a:t>1 Relationship</a:t>
            </a:r>
            <a:r>
              <a:rPr lang="ru-RU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One </a:t>
            </a:r>
            <a:r>
              <a:rPr lang="en-GB" sz="1200" dirty="0"/>
              <a:t>Order</a:t>
            </a:r>
            <a:r>
              <a:rPr lang="en-US" sz="1200" dirty="0"/>
              <a:t> can contain many Products (Many </a:t>
            </a:r>
            <a:r>
              <a:rPr lang="ru-RU" sz="1200" dirty="0"/>
              <a:t>– </a:t>
            </a:r>
            <a:r>
              <a:rPr lang="en-US" sz="1200" dirty="0"/>
              <a:t>to </a:t>
            </a:r>
            <a:r>
              <a:rPr lang="ru-RU" sz="1200" dirty="0"/>
              <a:t>– </a:t>
            </a:r>
            <a:r>
              <a:rPr lang="en-US" sz="1200" dirty="0"/>
              <a:t>Many Relationship)</a:t>
            </a:r>
            <a:endParaRPr lang="ru-RU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One </a:t>
            </a:r>
            <a:r>
              <a:rPr lang="en-GB" sz="1200" dirty="0"/>
              <a:t>Product</a:t>
            </a:r>
            <a:r>
              <a:rPr lang="en-US" sz="1200" dirty="0"/>
              <a:t> can be in many Orders (Many </a:t>
            </a:r>
            <a:r>
              <a:rPr lang="ru-RU" sz="1200" dirty="0"/>
              <a:t>– </a:t>
            </a:r>
            <a:r>
              <a:rPr lang="en-US" sz="1200" dirty="0"/>
              <a:t>to </a:t>
            </a:r>
            <a:r>
              <a:rPr lang="ru-RU" sz="1200" dirty="0"/>
              <a:t>– </a:t>
            </a:r>
            <a:r>
              <a:rPr lang="en-US" sz="1200" dirty="0"/>
              <a:t>Many Relationship)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69016E-C102-75AF-32F0-0C9B35DEE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32" y="3149918"/>
            <a:ext cx="6382097" cy="215323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B7C65CD-4FFA-2527-5FCC-DD2757ADEBB8}"/>
              </a:ext>
            </a:extLst>
          </p:cNvPr>
          <p:cNvSpPr txBox="1"/>
          <p:nvPr/>
        </p:nvSpPr>
        <p:spPr>
          <a:xfrm>
            <a:off x="1206276" y="5565913"/>
            <a:ext cx="4445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1. </a:t>
            </a:r>
            <a:r>
              <a:rPr lang="en-US" sz="1200" b="1" dirty="0"/>
              <a:t>How many clients register each month in each country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7033E2-55DF-CC1A-75F5-713A6CA2D2FB}"/>
              </a:ext>
            </a:extLst>
          </p:cNvPr>
          <p:cNvSpPr txBox="1"/>
          <p:nvPr/>
        </p:nvSpPr>
        <p:spPr>
          <a:xfrm>
            <a:off x="405517" y="6048512"/>
            <a:ext cx="6112125" cy="3105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	For e-commerce companies (such as Amazon), this is one of the most important questions to </a:t>
            </a:r>
            <a:r>
              <a:rPr lang="en-US" sz="1200" dirty="0" err="1"/>
              <a:t>analyse</a:t>
            </a:r>
            <a:r>
              <a:rPr lang="en-US" sz="1200" dirty="0"/>
              <a:t> business and market growth. If the number is growing, the business is attracting more users. If it is falling, there may be problems: poor advertising, competitors, website issues.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	By adding a country, we can understand in which markets the company is growing faster. Besides, if a company launches an ad, for example in Germany in March, and customer registrations increase sharply in March; this means the campaign is working.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	Moreover, more customers mean more orders, more warehouse load, more delivery. Therefore, it is important to know where the market is growing to decide if there is a nee to open a new warehouse, increase logistics, etc.</a:t>
            </a:r>
          </a:p>
        </p:txBody>
      </p:sp>
    </p:spTree>
    <p:extLst>
      <p:ext uri="{BB962C8B-B14F-4D97-AF65-F5344CB8AC3E}">
        <p14:creationId xmlns:p14="http://schemas.microsoft.com/office/powerpoint/2010/main" val="231183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C29BE7-CCDD-EC64-A1C5-9D173DD32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56" y="319946"/>
            <a:ext cx="3303725" cy="1082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C8D4D7-72C7-E193-3C39-CA9D66BDC332}"/>
              </a:ext>
            </a:extLst>
          </p:cNvPr>
          <p:cNvSpPr txBox="1"/>
          <p:nvPr/>
        </p:nvSpPr>
        <p:spPr>
          <a:xfrm>
            <a:off x="1210284" y="2162755"/>
            <a:ext cx="4437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2. T</a:t>
            </a:r>
            <a:r>
              <a:rPr lang="en-GB" sz="1200" b="1" dirty="0"/>
              <a:t>he </a:t>
            </a:r>
            <a:r>
              <a:rPr lang="en-US" sz="1200" b="1" dirty="0"/>
              <a:t>products with the most sales and the fewest returns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4D854-5D12-755F-66E6-FFE58B8D8E7B}"/>
              </a:ext>
            </a:extLst>
          </p:cNvPr>
          <p:cNvSpPr txBox="1"/>
          <p:nvPr/>
        </p:nvSpPr>
        <p:spPr>
          <a:xfrm>
            <a:off x="268356" y="2553344"/>
            <a:ext cx="62835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Products with the highest sales and the lowest returns</a:t>
            </a:r>
            <a:r>
              <a:rPr lang="ru-RU" sz="1200" dirty="0"/>
              <a:t> </a:t>
            </a:r>
            <a:r>
              <a:rPr lang="en-US" sz="1200" dirty="0"/>
              <a:t>are the best products for business.</a:t>
            </a:r>
          </a:p>
          <a:p>
            <a:r>
              <a:rPr lang="en-US" sz="1200" dirty="0"/>
              <a:t>They demonstrate</a:t>
            </a:r>
            <a:r>
              <a:rPr lang="en-GB" sz="1200" dirty="0"/>
              <a:t>, </a:t>
            </a:r>
            <a:r>
              <a:rPr lang="en-US" sz="1200" dirty="0"/>
              <a:t>that customers are satisfied with the product, the product matches the description and returns and logistics costs are minimal.</a:t>
            </a:r>
          </a:p>
          <a:p>
            <a:r>
              <a:rPr lang="en-US" sz="1200" dirty="0"/>
              <a:t>Such products </a:t>
            </a:r>
            <a:r>
              <a:rPr lang="en-GB" sz="1200" dirty="0"/>
              <a:t>should be </a:t>
            </a:r>
            <a:r>
              <a:rPr lang="en-US" sz="1200" dirty="0"/>
              <a:t>actively promoted by the company, kept in large quantities in stock and featured in recommendations. </a:t>
            </a:r>
          </a:p>
          <a:p>
            <a:r>
              <a:rPr lang="en-US" sz="1200" dirty="0"/>
              <a:t>This helps increase profits.</a:t>
            </a:r>
            <a:endParaRPr lang="ru-RU" sz="1200" dirty="0"/>
          </a:p>
          <a:p>
            <a:endParaRPr lang="en-US" sz="1200" dirty="0"/>
          </a:p>
          <a:p>
            <a:r>
              <a:rPr lang="en-US" sz="1200" dirty="0"/>
              <a:t>To find the products with the most sales and the fewest returns, use the following tables: orders and products</a:t>
            </a:r>
          </a:p>
          <a:p>
            <a:endParaRPr lang="en-US" sz="1200" dirty="0"/>
          </a:p>
          <a:p>
            <a:r>
              <a:rPr lang="en-US" sz="1200" dirty="0"/>
              <a:t>JOIN combines orders and products</a:t>
            </a:r>
          </a:p>
          <a:p>
            <a:r>
              <a:rPr lang="en-US" sz="1200" dirty="0"/>
              <a:t>SUM(</a:t>
            </a:r>
            <a:r>
              <a:rPr lang="en-US" sz="1200" dirty="0" err="1"/>
              <a:t>orders.quantity</a:t>
            </a:r>
            <a:r>
              <a:rPr lang="en-US" sz="1200" dirty="0"/>
              <a:t>) counts total sales</a:t>
            </a:r>
          </a:p>
          <a:p>
            <a:r>
              <a:rPr lang="en-US" sz="1200" dirty="0"/>
              <a:t>SUM(</a:t>
            </a:r>
            <a:r>
              <a:rPr lang="en-US" sz="1200" dirty="0" err="1"/>
              <a:t>orders.returned</a:t>
            </a:r>
            <a:r>
              <a:rPr lang="en-US" sz="1200" dirty="0"/>
              <a:t>) counts returns</a:t>
            </a:r>
          </a:p>
          <a:p>
            <a:r>
              <a:rPr lang="en-US" sz="1200" dirty="0"/>
              <a:t>GROUP BY groups by product</a:t>
            </a:r>
          </a:p>
          <a:p>
            <a:r>
              <a:rPr lang="en-US" sz="1200" dirty="0"/>
              <a:t>ORDER BY: best-selling first, then least returned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E9BC7D-08CB-B2A0-A09F-C328BC92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58" y="5541394"/>
            <a:ext cx="3325412" cy="138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0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6fa6db5-9f3a-4c93-9e38-61059ee07e95}" enabled="1" method="Privileged" siteId="{4e8d09f7-cc79-4ccb-9149-a4238dd174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33236</TotalTime>
  <Words>366</Words>
  <Application>Microsoft Macintosh PowerPoint</Application>
  <PresentationFormat>A4 Paper (210x297 mm)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Palesheva</dc:creator>
  <cp:lastModifiedBy>Kristina Palesheva</cp:lastModifiedBy>
  <cp:revision>8</cp:revision>
  <dcterms:created xsi:type="dcterms:W3CDTF">2026-03-10T11:10:19Z</dcterms:created>
  <dcterms:modified xsi:type="dcterms:W3CDTF">2026-04-02T13:11:18Z</dcterms:modified>
</cp:coreProperties>
</file>